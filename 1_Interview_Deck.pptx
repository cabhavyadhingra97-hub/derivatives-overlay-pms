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4B"/>
                </a:solidFill>
              </a:rPr>
              <a:t>DERIVATIVES OVERLAY PROGRAM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Hedging &amp; Yield Overlay for a Concentrated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Equity PMS Mandate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Applied CFA Level III Project  —  v2, built on live QuantsApp Pro+ market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1554480" cy="3657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Ashoka Capital Advisors (Simulated PMS Mandate)   •   Rs 78 Cr AUM   •   14 HNI Clients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</a:rPr>
              <a:t>Prepared by CA Bhavya Dhingra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719072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121408"/>
            <a:ext cx="40827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Concentrated, promoter-heavy book; two clients ask for protection without selling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55448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6597396" y="17190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74636" y="1719072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Stock Selection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74636" y="2121408"/>
            <a:ext cx="40827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 documented 4-point screen — and a real finding that changed the answer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735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273552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The Two Sleeves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675888"/>
            <a:ext cx="40827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Protective collars (protection) + covered calls (income), priced from first principles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10896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97396" y="32735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74636" y="3273552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Timing the Hedge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74636" y="3675888"/>
            <a:ext cx="40827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Why IV percentile, not raw IV, decides *when* to trade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280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4828032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Rates &amp; Currency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230368"/>
            <a:ext cx="40827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Swap-based duration overlay; currency risk reversal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6344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97396" y="48280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74636" y="4828032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Does It Work?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74636" y="5230368"/>
            <a:ext cx="40827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Stress-test results, net program economics, and the honest limits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CLIENT &amp;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Concentrated Book, and a Direct Client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E2761"/>
                </a:solidFill>
              </a:rPr>
              <a:t>Ashoka Capital Advisors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0B0B0B"/>
                </a:solidFill>
              </a:rPr>
              <a:t>runs a Rs 78 Cr, 14-client PMS with a concentrated, promoter-heavy 16–18 stock book — single names up to 11% of AUM, several clients are the promoter families themselves.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E2761"/>
                </a:solidFill>
              </a:rPr>
              <a:t>The trigger: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0B0B0B"/>
                </a:solidFill>
              </a:rPr>
              <a:t>after the 2024 pre-election volatility spike, two client relationships (~Rs 9.5 Cr AUM) asked for “some way to protect the portfolio without selling out of positions we believe in long-term.”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3261E"/>
                </a:solidFill>
              </a:rPr>
              <a:t>That request is a mandate, not a suggestion.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78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818120" y="2258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Total AUM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28803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18120" y="3538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Largest single-stock weight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0" y="41605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4251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 bps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18120" y="4818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IC-approved annual cost budget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Objectives, One Non-Negotiable Constraint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2606040"/>
          </a:xfrm>
          <a:prstGeom prst="roundRect">
            <a:avLst>
              <a:gd name="adj" fmla="val 285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10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Yield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10997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Modest extra income on the stable half of the book, without capping upside materially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00200"/>
            <a:ext cx="2567178" cy="2606040"/>
          </a:xfrm>
          <a:prstGeom prst="roundRect">
            <a:avLst>
              <a:gd name="adj" fmla="val 285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18738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1873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8738" y="2468880"/>
            <a:ext cx="210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Protection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8738" y="2880360"/>
            <a:ext cx="210997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Defined downside on concentrated names ahead of known risk windows — no forced sale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1600200"/>
            <a:ext cx="2567178" cy="2606040"/>
          </a:xfrm>
          <a:prstGeom prst="roundRect">
            <a:avLst>
              <a:gd name="adj" fmla="val 285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60236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6023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60236" y="2468880"/>
            <a:ext cx="210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Duration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0236" y="2880360"/>
            <a:ext cx="210997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Tactically manage debt-sleeve duration without disturbing the liquidity bond book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3134" y="1600200"/>
            <a:ext cx="2567178" cy="2606040"/>
          </a:xfrm>
          <a:prstGeom prst="roundRect">
            <a:avLst>
              <a:gd name="adj" fmla="val 2850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30173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30173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01734" y="2468880"/>
            <a:ext cx="210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Currency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1734" y="2880360"/>
            <a:ext cx="210997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documented, graduated hedge policy for the unhedged USD/LRS allocation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3261E"/>
                </a:solidFill>
              </a:rPr>
              <a:t>Non-negotiable: </a:t>
            </a:r>
            <a:pPr indent="0" marL="0">
              <a:buNone/>
            </a:pPr>
            <a:r>
              <a:rPr lang="en-US" sz="1350" i="1" dirty="0">
                <a:solidFill>
                  <a:srgbClr val="0B0B0B"/>
                </a:solidFill>
              </a:rPr>
              <a:t>the desk will not deploy anything it cannot explain to a first-generation-wealth client in one page. Cost budget capped at 40–60 bps of AUM annually.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STOCK SELECTION — PROTECTION SLEEVE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Checking, Not Assuming, What Can Actually Be Hedged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four criteria applied (in order):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</a:rPr>
              <a:t>NSE F&amp;O eligibility (hard gate) — checked directly on QuantsApp Pro+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328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</a:rPr>
              <a:t>High single-stock concentration weight in the book (8.5%–11%)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099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09981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</a:rPr>
              <a:t>Promoter-heavy / event-sensitive character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66674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</a:rPr>
              <a:t>Elevated IV relative to the income-sleeve names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6035040" cy="1737360"/>
          </a:xfrm>
          <a:prstGeom prst="roundRect">
            <a:avLst>
              <a:gd name="adj" fmla="val 4211"/>
            </a:avLst>
          </a:prstGeom>
          <a:solidFill>
            <a:srgbClr val="FB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261E"/>
                </a:solidFill>
              </a:rPr>
              <a:t>THE REAL FINDING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None of the four originally-planned names returned a match on QuantsApp's live F&amp;O symbol search — they are not NSE F&amp;O-eligible at all. Not “illiquid.” Not optionable, period.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800600" cy="2377440"/>
        </p:xfrm>
        <a:graphic>
          <a:graphicData uri="http://schemas.openxmlformats.org/drawingml/2006/table">
            <a:tbl>
              <a:tblPr/>
              <a:tblGrid>
                <a:gridCol w="2148840"/>
                <a:gridCol w="1828800"/>
                <a:gridCol w="822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Replaced Archetype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Real F&amp;O Name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Navin-Fluorine-like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SRF Ltd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11.0%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Kirloskar-Ferrous-like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Bharat Forge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9.5%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CSB-Bank-like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Kalyan Jewellers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9.0%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Apar-Industries-like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Polycab India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8.5%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858000" y="41605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All four cleared the F&amp;O check and share the concentrated/promoter-driven character of the original mandate.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STOCK SELECTION — INCOME SLEEVE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Half: Fairly-Valued, Liquid, Lower Vol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Fairly-valued, lowest-conviction core large-caps — the PM has no strong directional view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Deep, liquid NSE options market (top ~150 names by OI/ADV) — needed to actually execute the roll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Lower baseline IV than the concentration sleeve — confirms these are genuinely the “boring, stable” half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00200"/>
          <a:ext cx="4983480" cy="3291840"/>
        </p:xfrm>
        <a:graphic>
          <a:graphicData uri="http://schemas.openxmlformats.org/drawingml/2006/table">
            <a:tbl>
              <a:tblPr/>
              <a:tblGrid>
                <a:gridCol w="1554480"/>
                <a:gridCol w="1234440"/>
                <a:gridCol w="1097280"/>
                <a:gridCol w="109728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Spot (Rs)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IV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HDFC Bank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819.9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24.5%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6.0%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ICICI Bank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1,449.1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25.5%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5.5%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Infosys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1,090.0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33.7%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5.0%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L&amp;T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3,843.6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24.3%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4.5%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HUL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2,150.2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22.1%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4.0%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Titan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4,636.3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20.0%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4.0%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675120" y="502920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All six confirmed F&amp;O-eligible and liquid on QuantsApp; only the position data (spot/IV) was refreshed to live figures.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MECHANIC 1 — PROTECTIVE COLLAR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Self-Funding Floor, Solved Not Guessed</a:t>
            </a:r>
            <a:endParaRPr lang="en-US" sz="2800" dirty="0"/>
          </a:p>
        </p:txBody>
      </p:sp>
      <p:pic>
        <p:nvPicPr>
          <p:cNvPr id="4" name="Image 0" descr="/sessions/admiring-zealous-wright/mnt/derivatives/v2_live_quantsapp_data/charts/01_collar_payoff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084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6002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B0B0B"/>
                </a:solidFill>
              </a:rPr>
              <a:t>Put strike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fixed at a 12% downside floor (a design choice, not a market price).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B0B0B"/>
                </a:solidFill>
              </a:rPr>
              <a:t>Call strike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solved via scipy.optimize.brentq so its premium exactly funds the put — no closed-form solution exists for this.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0" y="36576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7086600" y="37307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 bps/yr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86600" y="4251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Gross cost across all 4 names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0" y="47548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7086600" y="4828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≤60 bps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86600" y="5349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IC ceiling — 46% utilized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MECHANIC 2 — COVERED CALL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15% OTM / Semi-Annual — and What Got Rejected</a:t>
            </a:r>
            <a:endParaRPr lang="en-US" sz="2800" dirty="0"/>
          </a:p>
        </p:txBody>
      </p:sp>
      <p:pic>
        <p:nvPicPr>
          <p:cNvPr id="4" name="Image 0" descr="/sessions/admiring-zealous-wright/mnt/derivatives/v2_live_quantsapp_data/charts/02_covered_call_payoff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084576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800600" cy="201168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325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Design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Modeled Income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Monthly, 6% OTM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~200 bps/yr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</a:rPr>
                        <a:t>Rejected — caps upside monthly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Quarterly, 9% OTM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~170 bps/yr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</a:rPr>
                        <a:t>Rejected — caps upside 4x/yr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Semi-annual, 15% OTM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</a:rPr>
                        <a:t>177.3 bps/yr (real)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6B0B"/>
                          </a:solidFill>
                        </a:rPr>
                        <a:t>Chosen — upside rarely capped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0" y="38404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0B0B0B"/>
                </a:solidFill>
              </a:rPr>
              <a:t>Real IVs price richer than the original placeholder (e.g. Infosys ~34% IV) — which is why this sleeve's income roughly doubled once live data replaced the simulated estimate.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TIMING THE HEDGE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Percentile: Why *When* Matters as Much as *Which*</a:t>
            </a:r>
            <a:endParaRPr lang="en-US" sz="2800" dirty="0"/>
          </a:p>
        </p:txBody>
      </p:sp>
      <p:pic>
        <p:nvPicPr>
          <p:cNvPr id="4" name="Image 0" descr="/sessions/admiring-zealous-wright/mnt/derivatives/v2_live_quantsapp_data/charts/03_iv_percentile_hedge_tri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126480" cy="2902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6002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The rule: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hedge when a name's IV Percentile sits in the bottom tercile (≤33.3) of its own 90-day range — buy protection when it's statistically cheap, not after a selloff.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0" y="2926080"/>
            <a:ext cx="4800600" cy="2651760"/>
          </a:xfrm>
          <a:prstGeom prst="roundRect">
            <a:avLst>
              <a:gd name="adj" fmla="val 2759"/>
            </a:avLst>
          </a:prstGeom>
          <a:solidFill>
            <a:srgbClr val="FBEAEA"/>
          </a:solidFill>
          <a:ln/>
        </p:spPr>
      </p:sp>
      <p:sp>
        <p:nvSpPr>
          <p:cNvPr id="7" name="Text 4"/>
          <p:cNvSpPr/>
          <p:nvPr/>
        </p:nvSpPr>
        <p:spPr>
          <a:xfrm>
            <a:off x="7086600" y="3063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3261E"/>
                </a:solidFill>
              </a:rPr>
              <a:t>THE HONEST READ ON THIS SNAPSHOT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86600" y="3429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7 of 10 sleeve names sit ABOVE the 66th IV percentile right now (e.g. Kalyan Jewellers at 97.2 — a live vol event, +4.87% the day of capture).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86600" y="434340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B0B0B"/>
                </a:solidFill>
              </a:rPr>
              <a:t>This is NOT a statistically cheap window to initiate new protection. A real desk documents this and either accepts the richer cost (event risk may outweigh it) or waits — and says so to the IC.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MECHANIC 3 — RATES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Swap-Based Duration Overlay, In Detail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0B0B"/>
                </a:solidFill>
              </a:rPr>
              <a:t>The Rs 7 Cr debt sleeve (2.1-yr modified duration) is held for liquidity/rebalancing dry powder. A rates view calls for shortening duration by 0.75 yrs — but selling and re-buying the physical bonds means transaction costs AND may crystallize capital-gains tax.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instrument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0B0B"/>
                </a:solidFill>
              </a:rPr>
              <a:t>A payer swap (pay fixed / receive floating) SHORTENS duration; a receiver swap LENGTHENS it. Sizing the notional so the swap's own DV01 reproduces the target duration change on the full sleeve — the underlying bonds are never touched.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B3261E"/>
                </a:solidFill>
              </a:rPr>
              <a:t>Direction discipline: </a:t>
            </a:r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B0B0B"/>
                </a:solidFill>
              </a:rPr>
              <a:t>payer-vs-receiver must be anchored to a documented, market-implied rate view (e.g. OIS-implied forward path) — never a discretionary desk call. That discipline is what separates a PM's process from a trader's opinion.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00200"/>
          <a:ext cx="475488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Debt sleeve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Rs 7.00 Cr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Current modified duration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2.1 yrs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Target duration shift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0.75 yrs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</a:rPr>
                        <a:t>Swap notional required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Rs 2.50 Cr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Cost avoidance vs. physical trade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Rs 4.2 Lakh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Capital gains avoided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Rs 18 Lakh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</a:rPr>
                        <a:t>Counterparty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OTC, CCIL-cleared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903720" y="512064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523036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3261E"/>
                </a:solidFill>
              </a:rPr>
              <a:t>A materially different risk category: OTC/CCIL-cleared, NOT NSE Clearing Corporation-guaranteed like the equity F&amp;O legs — must be called out separately in any risk memo.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MECHANIC 4 — CURRENCY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Graduated Policy, Not “Hedge or Don't”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Why a risk reversal, not a forward: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a forward locks a single rate both ways and typically needs margin. A collar (long USD put / short USD call) caps INR-appreciation downside while preserving some INR-depreciation upside — a floor, not a fixed rate.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Why 50%, not 0% or 100%: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B0B"/>
                </a:solidFill>
              </a:rPr>
              <a:t>0% leaves clients fully exposed; 100% removes ALL upside from INR depreciation — which NRI clients holding US assets may actually want as a currency diversifier. 50% is the documented middle ground.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800600" cy="3566160"/>
        </p:xfrm>
        <a:graphic>
          <a:graphicData uri="http://schemas.openxmlformats.org/drawingml/2006/table">
            <a:tbl>
              <a:tblPr/>
              <a:tblGrid>
                <a:gridCol w="2560320"/>
                <a:gridCol w="224028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USD/LRS allocation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Rs 3.00 Cr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Target hedge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Hedge notional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Rs 1.50 Cr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Long USD put / short USD call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USDINR spot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86.50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Put strike / Call strike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84.77 / 91.69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</a:rPr>
                        <a:t>Net premium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0.60% of notional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DOES IT WORK?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Backtest — Hedged vs. Unhedged</a:t>
            </a:r>
            <a:endParaRPr lang="en-US" sz="2800" dirty="0"/>
          </a:p>
        </p:txBody>
      </p:sp>
      <p:pic>
        <p:nvPicPr>
          <p:cNvPr id="4" name="Image 0" descr="/sessions/admiring-zealous-wright/mnt/derivatives/v2_live_quantsapp_data/charts/04_stress_test_hedged_vs_unhedg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406640" cy="38202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17373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</a:rPr>
              <a:t>Read by efficiency, not just bps saved: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0B0B"/>
                </a:solidFill>
              </a:rPr>
              <a:t>The 2024-election window (-10.35%) shows the lowest protection efficiency — the move sits inside the -12% floor, so protection barely engages. Efficiency is highest (23–26%) for the larger, slower drawdowns the floor is actually built for.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13816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4041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3261E"/>
                </a:solidFill>
              </a:rPr>
              <a:t>GAP-RISK LIMIT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21040" y="43434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0B0B0B"/>
                </a:solidFill>
              </a:rPr>
              <a:t>A crisis-speed, single-week gap-down (COVID-style) can move through a strike faster than the desk can re-strike intraday — a real, bounded limitation, named explicitly, not smoothed over.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PROGRAM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Cash-Flow Positive, Inside the IC Budget</a:t>
            </a:r>
            <a:endParaRPr lang="en-US" sz="2800" dirty="0"/>
          </a:p>
        </p:txBody>
      </p:sp>
      <p:pic>
        <p:nvPicPr>
          <p:cNvPr id="4" name="Image 0" descr="/sessions/admiring-zealous-wright/mnt/derivatives/v2_live_quantsapp_data/charts/05_value_creation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040880" cy="34500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916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783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 bps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9244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Gross collar cost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31089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200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177.3 bps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92440" y="3886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Gross covered-call income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63840" y="45262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46177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149.8 bps NET CREDIT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92440" y="5303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Program cash-flow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RISK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Stress, Liquidity, and Escalation Triggers</a:t>
            </a:r>
            <a:endParaRPr lang="en-US" sz="2800" dirty="0"/>
          </a:p>
        </p:txBody>
      </p:sp>
      <p:pic>
        <p:nvPicPr>
          <p:cNvPr id="4" name="Image 0" descr="/sessions/admiring-zealous-wright/mnt/derivatives/v2_live_quantsapp_data/charts/06_margin_stress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577840" cy="198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7200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B0B0B"/>
                </a:solidFill>
              </a:rPr>
              <a:t>Under a 3-sigma single-day Nifty move (~7%), margin rises ~65% — the desk holds a 17.8% buffer over that stressed requirement at all times.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9224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Escalation triggers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9202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19933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0B0B0B"/>
                </a:solidFill>
              </a:rPr>
              <a:t>Hedge cost exceeding 60bps budget by &gt;20% in any quarter -&gt; mandatory IC review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492240" y="2816352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288950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0B0B0B"/>
                </a:solidFill>
              </a:rPr>
              <a:t>Margin utilization exceeding 70% of posted collateral -&gt; immediate de-risking of options book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492240" y="3712464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378561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0B0B0B"/>
                </a:solidFill>
              </a:rPr>
              <a:t>Single-name option liquidity score (OI/ADV) below desk threshold -&gt; mandatory switch to index-proxy hedge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492240" y="460857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468172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0B0B0B"/>
                </a:solidFill>
              </a:rPr>
              <a:t>Portfolio tracking error vs Nifty 500 exceeding 8% band (incl. overlay effects) -&gt; review and rebalance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492240" y="550468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5577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0B0B0B"/>
                </a:solidFill>
              </a:rPr>
              <a:t>Any planned protection-sleeve name found NOT F&amp;O-eligible on the monthly QuantsApp check -&gt; escalate to IC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Overlay Program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Protective collars on 4 F&amp;O-verified, promoter-driven names • covered calls on 6 core large-caps • swap-based duration overlay • graduated currency policy — within a 60 bps annual gross ceiling.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54864" cy="8229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200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Checking beats assuming.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single biggest finding here isn't a price — it's that the original planned hedge names couldn't be hedged at 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54864" cy="8229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160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Timing is a real input.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Real IV percentile shows most of the book is NOT cheap to hedge right now — surfaced honestly, not smoothed over.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54864" cy="8229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120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program pays for itself.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Covered-call income funds the protection cost more than fully — a net credit, not an expense line.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3D9"/>
                </a:solidFill>
              </a:rPr>
              <a:t>Applied CFA Level III Project — educational, not investment advice. Equity sleeve data: QuantsApp Pro+, 17-Jul-2026.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2026-07-19T11:33:21Z</dcterms:created>
  <dcterms:modified xsi:type="dcterms:W3CDTF">2026-07-19T11:33:21Z</dcterms:modified>
</cp:coreProperties>
</file>